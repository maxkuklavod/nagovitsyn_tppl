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6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56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9087"/>
            <a:ext cx="1260419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DreamBerd: Идеальный язык программирования?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83656"/>
            <a:ext cx="6422231" cy="2416731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60796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3707249" y="2286000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1015008" y="3079790"/>
            <a:ext cx="363021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Название и переименование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5008" y="3509010"/>
            <a:ext cx="59797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Язык </a:t>
            </a:r>
            <a:r>
              <a:rPr lang="en-US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называется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DreamBerd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r>
              <a:rPr lang="ru-RU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Е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го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переименовали в «Gulf of Mexico» указом президента Трампа (12 февраля 2025 года). 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414379" y="2583656"/>
            <a:ext cx="6422231" cy="2416731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414379" y="2560796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1" name="Shape 8"/>
          <p:cNvSpPr/>
          <p:nvPr/>
        </p:nvSpPr>
        <p:spPr>
          <a:xfrm>
            <a:off x="10327838" y="2286000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950BC"/>
          </a:solidFill>
          <a:ln/>
        </p:spPr>
      </p:sp>
      <p:sp>
        <p:nvSpPr>
          <p:cNvPr id="13" name="Text 9"/>
          <p:cNvSpPr/>
          <p:nvPr/>
        </p:nvSpPr>
        <p:spPr>
          <a:xfrm>
            <a:off x="7635597" y="30797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Рождение шутки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7635597" y="3509010"/>
            <a:ext cx="59797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DreamBerd — это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сатирический язык программирования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, который обрел популярность в 2023 году. Создан как пародия на сложные и нелогичные концепции в реальных языках.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793790" y="5496401"/>
            <a:ext cx="13042821" cy="1464112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793790" y="5473541"/>
            <a:ext cx="13042821" cy="914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7" name="Shape 13"/>
          <p:cNvSpPr/>
          <p:nvPr/>
        </p:nvSpPr>
        <p:spPr>
          <a:xfrm>
            <a:off x="7017544" y="519874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950BC"/>
          </a:solidFill>
          <a:ln/>
        </p:spPr>
      </p:sp>
      <p:sp>
        <p:nvSpPr>
          <p:cNvPr id="19" name="Text 14"/>
          <p:cNvSpPr/>
          <p:nvPr/>
        </p:nvSpPr>
        <p:spPr>
          <a:xfrm>
            <a:off x="1015008" y="59925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Идеальная идея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015008" y="6421755"/>
            <a:ext cx="1260038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Основная цель: создать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"идеальный"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язык, решающий все проблемы разработчиков.</a:t>
            </a:r>
            <a:endParaRPr lang="en-US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5712" y="7596069"/>
            <a:ext cx="1905266" cy="5811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0853"/>
            <a:ext cx="970395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Где и зачем использовать DreamBerd?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139524"/>
            <a:ext cx="445639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Развлекательное назначение</a:t>
            </a:r>
            <a:endParaRPr lang="en-US" sz="2300" b="1" dirty="0"/>
          </a:p>
        </p:txBody>
      </p:sp>
      <p:sp>
        <p:nvSpPr>
          <p:cNvPr id="5" name="Text 3"/>
          <p:cNvSpPr/>
          <p:nvPr/>
        </p:nvSpPr>
        <p:spPr>
          <a:xfrm>
            <a:off x="793790" y="2682368"/>
            <a:ext cx="575250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Главное назначение —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развлекательное и образовательное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 Он помогает программистам с юмором взглянуть на свою профессию и на те странные решения, с которыми приходится сталкиваться каждый день.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39144" y="2164913"/>
            <a:ext cx="325588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Философский вопрос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439144" y="2656046"/>
            <a:ext cx="575262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Язык заставляет задуматься: почему те или иные конструкции в Python, Java или JavaScript сделаны именно так, а не иначе? Может ли быть хуже? 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3790" y="4541401"/>
            <a:ext cx="300489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Сферы применения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93790" y="52296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Мемы и Пародии</a:t>
            </a:r>
            <a:endParaRPr lang="en-US" sz="1950" b="1" dirty="0"/>
          </a:p>
        </p:txBody>
      </p:sp>
      <p:sp>
        <p:nvSpPr>
          <p:cNvPr id="12" name="Text 9"/>
          <p:cNvSpPr/>
          <p:nvPr/>
        </p:nvSpPr>
        <p:spPr>
          <a:xfrm>
            <a:off x="793790" y="5666134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DreamBerd — идеальный объект для шуток, мемов и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пародийных статей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на техническую тематику. 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439144" y="5229641"/>
            <a:ext cx="363640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Педагогический инструмент</a:t>
            </a:r>
            <a:endParaRPr lang="en-US" sz="1950" b="1" dirty="0"/>
          </a:p>
        </p:txBody>
      </p:sp>
      <p:sp>
        <p:nvSpPr>
          <p:cNvPr id="15" name="Text 11"/>
          <p:cNvSpPr/>
          <p:nvPr/>
        </p:nvSpPr>
        <p:spPr>
          <a:xfrm>
            <a:off x="7439144" y="5666134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Используется как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«язык-антипаттерн»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для объяснения новичкам важности строгих правил.</a:t>
            </a:r>
            <a:endParaRPr lang="en-US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5712" y="7596069"/>
            <a:ext cx="1905266" cy="5811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228" y="550783"/>
            <a:ext cx="8835628" cy="529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Что делает DreamBerd </a:t>
            </a:r>
            <a:r>
              <a:rPr lang="en-US" sz="3300" b="1" dirty="0">
                <a:solidFill>
                  <a:srgbClr val="4950BC"/>
                </a:solidFill>
                <a:ea typeface="Inter Bold" pitchFamily="34" charset="-122"/>
                <a:cs typeface="Inter Bold" pitchFamily="34" charset="-120"/>
              </a:rPr>
              <a:t>"УНИКАЛЬНЫМ"</a:t>
            </a:r>
            <a:r>
              <a:rPr lang="en-US" sz="33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?</a:t>
            </a:r>
            <a:endParaRPr lang="en-US" sz="3300" b="1" dirty="0"/>
          </a:p>
        </p:txBody>
      </p:sp>
      <p:sp>
        <p:nvSpPr>
          <p:cNvPr id="3" name="Shape 1"/>
          <p:cNvSpPr/>
          <p:nvPr/>
        </p:nvSpPr>
        <p:spPr>
          <a:xfrm>
            <a:off x="7303770" y="1418630"/>
            <a:ext cx="22860" cy="6260068"/>
          </a:xfrm>
          <a:prstGeom prst="roundRect">
            <a:avLst>
              <a:gd name="adj" fmla="val 311116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6830139" y="2801898"/>
            <a:ext cx="507921" cy="22860"/>
          </a:xfrm>
          <a:prstGeom prst="roundRect">
            <a:avLst>
              <a:gd name="adj" fmla="val 311116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7251740" y="2749868"/>
            <a:ext cx="126921" cy="126921"/>
          </a:xfrm>
          <a:prstGeom prst="roundRect">
            <a:avLst>
              <a:gd name="adj" fmla="val 360224"/>
            </a:avLst>
          </a:prstGeom>
          <a:solidFill>
            <a:srgbClr val="4950BC"/>
          </a:solidFill>
          <a:ln/>
        </p:spPr>
      </p:sp>
      <p:sp>
        <p:nvSpPr>
          <p:cNvPr id="6" name="Shape 4"/>
          <p:cNvSpPr/>
          <p:nvPr/>
        </p:nvSpPr>
        <p:spPr>
          <a:xfrm>
            <a:off x="677228" y="1418630"/>
            <a:ext cx="6130052" cy="2789515"/>
          </a:xfrm>
          <a:prstGeom prst="roundRect">
            <a:avLst>
              <a:gd name="adj" fmla="val 255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1909" y="1595557"/>
            <a:ext cx="2788444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Пунктуация конца строки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4154" y="1961674"/>
            <a:ext cx="5776198" cy="81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Каждая строка кода должна заканчиваться </a:t>
            </a:r>
            <a:r>
              <a:rPr lang="en-US" sz="1600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восклицательным знаком (!)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 Если вы поставите </a:t>
            </a:r>
            <a:r>
              <a:rPr lang="en-US" sz="1600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вопросительный знак (?)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, в консоль будет выведена </a:t>
            </a:r>
            <a:r>
              <a:rPr lang="en-US" sz="1600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отладочная информация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только для этой строки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4154" y="2964775"/>
            <a:ext cx="5776198" cy="1066443"/>
          </a:xfrm>
          <a:prstGeom prst="roundRect">
            <a:avLst>
              <a:gd name="adj" fmla="val 6669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845701" y="2964775"/>
            <a:ext cx="5793105" cy="1066443"/>
          </a:xfrm>
          <a:prstGeom prst="roundRect">
            <a:avLst>
              <a:gd name="adj" fmla="val 2382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1015008" y="3091696"/>
            <a:ext cx="5454491" cy="81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 </a:t>
            </a:r>
            <a:r>
              <a:rPr lang="en-US" sz="1300" dirty="0" err="1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DreamBerd</a:t>
            </a:r>
            <a:r>
              <a:rPr lang="en-US" sz="1300" dirty="0" smtClean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")!</a:t>
            </a:r>
            <a:endParaRPr lang="ru-RU" sz="1300" dirty="0" smtClean="0">
              <a:solidFill>
                <a:srgbClr val="272525"/>
              </a:solidFill>
              <a:highlight>
                <a:srgbClr val="F2F2F2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r">
              <a:lnSpc>
                <a:spcPts val="2100"/>
              </a:lnSpc>
              <a:buNone/>
            </a:pPr>
            <a:r>
              <a:rPr lang="en-US" sz="1300" dirty="0" smtClean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 5?            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92340" y="4577358"/>
            <a:ext cx="507921" cy="22860"/>
          </a:xfrm>
          <a:prstGeom prst="roundRect">
            <a:avLst>
              <a:gd name="adj" fmla="val 311116"/>
            </a:avLst>
          </a:prstGeom>
          <a:solidFill>
            <a:srgbClr val="C0C1D7"/>
          </a:solidFill>
          <a:ln/>
        </p:spPr>
      </p:sp>
      <p:sp>
        <p:nvSpPr>
          <p:cNvPr id="13" name="Shape 11"/>
          <p:cNvSpPr/>
          <p:nvPr/>
        </p:nvSpPr>
        <p:spPr>
          <a:xfrm>
            <a:off x="7251740" y="4525328"/>
            <a:ext cx="126921" cy="126921"/>
          </a:xfrm>
          <a:prstGeom prst="roundRect">
            <a:avLst>
              <a:gd name="adj" fmla="val 360224"/>
            </a:avLst>
          </a:prstGeom>
          <a:solidFill>
            <a:srgbClr val="4950B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23121" y="2434471"/>
            <a:ext cx="6130052" cy="4308634"/>
          </a:xfrm>
          <a:prstGeom prst="roundRect">
            <a:avLst>
              <a:gd name="adj" fmla="val 165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0048" y="2611398"/>
            <a:ext cx="2778204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Четыре типа переменных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00048" y="2977515"/>
            <a:ext cx="5776198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Вместо скучных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и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, DreamBerd предлагает разнообразие, пародируя проблемы мутабельности в JavaScript: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00048" y="3620810"/>
            <a:ext cx="5776198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600" dirty="0" err="1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 smtClean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const</a:t>
            </a:r>
            <a:r>
              <a:rPr lang="ru-RU" sz="1600" dirty="0" smtClean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smtClean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600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: 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Неизменяемая константа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00048" y="3950851"/>
            <a:ext cx="5776198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600" dirty="0" err="1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 smtClean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 smtClean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600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: 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Нельзя переприсвоить, но можно изменить внутреннее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состояние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(</a:t>
            </a:r>
            <a:r>
              <a:rPr lang="en-US" sz="1600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name.pop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(), </a:t>
            </a:r>
            <a:r>
              <a:rPr lang="en-US" sz="1600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name.push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())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0048" y="4551759"/>
            <a:ext cx="5776198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600" dirty="0" err="1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 smtClean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 smtClean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600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: 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Можно переприсвоить, но нельзя изменить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значение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(name 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= "")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00048" y="5152668"/>
            <a:ext cx="5776198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600" dirty="0" err="1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 smtClean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 smtClean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600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: 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Обычная изменяемая переменная.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00048" y="5482709"/>
            <a:ext cx="5776198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600" dirty="0" err="1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 smtClean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 smtClean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600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: 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чтобы сделать константу constant </a:t>
            </a:r>
            <a:r>
              <a:rPr lang="en-US" sz="1600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постоянной ("Пожалуйста, будьте осторожны с этим ключевым словом, так как оно очень мощное и навсегда затронет всех пользователей по всему миру")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30139" y="5512951"/>
            <a:ext cx="507921" cy="22860"/>
          </a:xfrm>
          <a:prstGeom prst="roundRect">
            <a:avLst>
              <a:gd name="adj" fmla="val 311116"/>
            </a:avLst>
          </a:prstGeom>
          <a:solidFill>
            <a:srgbClr val="C0C1D7"/>
          </a:solidFill>
          <a:ln/>
        </p:spPr>
      </p:sp>
      <p:sp>
        <p:nvSpPr>
          <p:cNvPr id="23" name="Shape 21"/>
          <p:cNvSpPr/>
          <p:nvPr/>
        </p:nvSpPr>
        <p:spPr>
          <a:xfrm>
            <a:off x="7251740" y="5460921"/>
            <a:ext cx="126921" cy="126921"/>
          </a:xfrm>
          <a:prstGeom prst="roundRect">
            <a:avLst>
              <a:gd name="adj" fmla="val 360224"/>
            </a:avLst>
          </a:prstGeom>
          <a:solidFill>
            <a:srgbClr val="4950BC"/>
          </a:solidFill>
          <a:ln/>
        </p:spPr>
      </p:sp>
      <p:sp>
        <p:nvSpPr>
          <p:cNvPr id="24" name="Shape 22"/>
          <p:cNvSpPr/>
          <p:nvPr/>
        </p:nvSpPr>
        <p:spPr>
          <a:xfrm>
            <a:off x="677228" y="4758095"/>
            <a:ext cx="6130052" cy="1532573"/>
          </a:xfrm>
          <a:prstGeom prst="roundRect">
            <a:avLst>
              <a:gd name="adj" fmla="val 464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99836" y="4935022"/>
            <a:ext cx="2230517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Три логических типа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54154" y="5301139"/>
            <a:ext cx="5776198" cy="81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В дополнение к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и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, существует третье, крайне важное логическое значение: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maybe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(может быть). В реальном мире, это 90% наших решений в продакшене.</a:t>
            </a:r>
            <a:endParaRPr lang="en-US" sz="1600" dirty="0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5712" y="7596069"/>
            <a:ext cx="1905266" cy="5811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5290"/>
            <a:ext cx="653700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Еще больше </a:t>
            </a:r>
            <a:r>
              <a:rPr lang="en-US" sz="3900" b="1" dirty="0">
                <a:solidFill>
                  <a:srgbClr val="4950BC"/>
                </a:solidFill>
                <a:ea typeface="Inter Bold" pitchFamily="34" charset="-122"/>
                <a:cs typeface="Inter Bold" pitchFamily="34" charset="-120"/>
              </a:rPr>
              <a:t>"Инноваций"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82203"/>
            <a:ext cx="6422231" cy="214181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382203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6034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Нет циклов 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032641"/>
            <a:ext cx="59112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DreamBerd обходится без циклов, потому что «настоящие программисты» в них не нуждаются. Вся логика должна быть реализована через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рекурсию или очень длинный список инструкций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414379" y="2382203"/>
            <a:ext cx="6422231" cy="214181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2382203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26034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Индексация с -1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3032641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Массивы начинаются с индекса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-1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 Можно использовать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дробные индексы (например, 1.5)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для вставки элементов между существующими. 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93790" y="4722376"/>
            <a:ext cx="6422231" cy="214181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4722376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588" y="4943594"/>
            <a:ext cx="26995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Пробелы решают всё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3588" y="5372814"/>
            <a:ext cx="59112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Порядок арифметических операций определяется количеством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пробелов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между операторами. Больше пробелов — выше приоритет. 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2 + 3 * 4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может быть равен 14 или 20, в зависимости от пробелов.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414379" y="4722376"/>
            <a:ext cx="6422231" cy="214181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1519" y="4722376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704177" y="49435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Удаление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04177" y="5372814"/>
            <a:ext cx="59112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/>
                <a:cs typeface="Inter" pitchFamily="34" charset="-120"/>
              </a:rPr>
              <a:t>Вы можете удалять ненужные ключевые слова с помощью оператора 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ea typeface="Inter"/>
                <a:cs typeface="Consolas" pitchFamily="34" charset="-120"/>
              </a:rPr>
              <a:t>delete</a:t>
            </a:r>
            <a:r>
              <a:rPr lang="en-US" dirty="0">
                <a:solidFill>
                  <a:srgbClr val="272525"/>
                </a:solidFill>
                <a:ea typeface="Inter"/>
                <a:cs typeface="Inter" pitchFamily="34" charset="-120"/>
              </a:rPr>
              <a:t>. Написали 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ea typeface="Inter"/>
                <a:cs typeface="Consolas" pitchFamily="34" charset="-120"/>
              </a:rPr>
              <a:t>delete class!</a:t>
            </a:r>
            <a:r>
              <a:rPr lang="en-US" dirty="0">
                <a:solidFill>
                  <a:srgbClr val="272525"/>
                </a:solidFill>
                <a:ea typeface="Inter"/>
                <a:cs typeface="Inter" pitchFamily="34" charset="-120"/>
              </a:rPr>
              <a:t> и </a:t>
            </a:r>
            <a:r>
              <a:rPr lang="en-US" b="1" dirty="0">
                <a:solidFill>
                  <a:srgbClr val="272525"/>
                </a:solidFill>
                <a:ea typeface="Inter"/>
                <a:cs typeface="Inter" pitchFamily="34" charset="-120"/>
              </a:rPr>
              <a:t>всё, классов больше нет</a:t>
            </a:r>
            <a:r>
              <a:rPr lang="en-US" dirty="0">
                <a:solidFill>
                  <a:srgbClr val="272525"/>
                </a:solidFill>
                <a:ea typeface="Inter"/>
                <a:cs typeface="Inter" pitchFamily="34" charset="-120"/>
              </a:rPr>
              <a:t>. А если уже удалять нечего можно написать 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ea typeface="Inter"/>
                <a:cs typeface="Consolas" pitchFamily="34" charset="-120"/>
              </a:rPr>
              <a:t>delete delete!</a:t>
            </a:r>
            <a:endParaRPr lang="en-US" dirty="0">
              <a:ea typeface="Inter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5712" y="7596069"/>
            <a:ext cx="1905266" cy="5811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8432"/>
            <a:ext cx="849177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Память и </a:t>
            </a:r>
            <a:r>
              <a:rPr lang="en-US" sz="3900" b="1" dirty="0" err="1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Типы</a:t>
            </a:r>
            <a:r>
              <a:rPr lang="en-US" sz="39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900" b="1" dirty="0" smtClean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в </a:t>
            </a:r>
            <a:r>
              <a:rPr lang="en-US" sz="3900" b="1" dirty="0" err="1" smtClean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DreamBerd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54523"/>
            <a:ext cx="613588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Управление памятью: "Улучшенная" GC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420904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В DreamBerd есть "улучшенная" система </a:t>
            </a:r>
            <a:r>
              <a:rPr lang="en-US" b="1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сборки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b="1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мусора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90" y="3811905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ea typeface="Inter"/>
                <a:cs typeface="Arial" panose="020B0604020202020204" pitchFamily="34" charset="0"/>
              </a:rPr>
              <a:t>Ее можно настроить так, чтобы она продолжала работать даже </a:t>
            </a:r>
            <a:r>
              <a:rPr lang="en-US" b="1" dirty="0">
                <a:solidFill>
                  <a:srgbClr val="272525"/>
                </a:solidFill>
                <a:ea typeface="Inter"/>
                <a:cs typeface="Arial" panose="020B0604020202020204" pitchFamily="34" charset="0"/>
              </a:rPr>
              <a:t>после завершения программы</a:t>
            </a:r>
            <a:r>
              <a:rPr lang="en-US" dirty="0">
                <a:solidFill>
                  <a:srgbClr val="272525"/>
                </a:solidFill>
                <a:ea typeface="Inter"/>
                <a:cs typeface="Arial" panose="020B0604020202020204" pitchFamily="34" charset="0"/>
              </a:rPr>
              <a:t>. Зачем? Спросите у разработчиков.</a:t>
            </a:r>
            <a:endParaRPr lang="en-US" dirty="0">
              <a:ea typeface="Inter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833937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ea typeface="Inter"/>
                <a:cs typeface="Arial" panose="020B0604020202020204" pitchFamily="34" charset="0"/>
              </a:rPr>
              <a:t>Можно задавать </a:t>
            </a:r>
            <a:r>
              <a:rPr lang="en-US" b="1" dirty="0">
                <a:solidFill>
                  <a:srgbClr val="272525"/>
                </a:solidFill>
                <a:ea typeface="Inter"/>
                <a:cs typeface="Arial" panose="020B0604020202020204" pitchFamily="34" charset="0"/>
              </a:rPr>
              <a:t>время жизни переменной</a:t>
            </a:r>
            <a:r>
              <a:rPr lang="en-US" dirty="0">
                <a:solidFill>
                  <a:srgbClr val="272525"/>
                </a:solidFill>
                <a:ea typeface="Inter"/>
                <a:cs typeface="Arial" panose="020B0604020202020204" pitchFamily="34" charset="0"/>
              </a:rPr>
              <a:t> в строках кода. Например, 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ea typeface="Inter"/>
                <a:cs typeface="Arial" panose="020B0604020202020204" pitchFamily="34" charset="0"/>
              </a:rPr>
              <a:t>const const name&lt;-1&gt; = "Luke"!</a:t>
            </a:r>
            <a:r>
              <a:rPr lang="en-US" dirty="0">
                <a:solidFill>
                  <a:srgbClr val="272525"/>
                </a:solidFill>
                <a:ea typeface="Inter"/>
                <a:cs typeface="Arial" panose="020B0604020202020204" pitchFamily="34" charset="0"/>
              </a:rPr>
              <a:t> создаст переменную, которая </a:t>
            </a:r>
            <a:r>
              <a:rPr lang="en-US" b="1" dirty="0">
                <a:solidFill>
                  <a:srgbClr val="272525"/>
                </a:solidFill>
                <a:ea typeface="Inter"/>
                <a:cs typeface="Arial" panose="020B0604020202020204" pitchFamily="34" charset="0"/>
              </a:rPr>
              <a:t>существовала до своего объявления</a:t>
            </a:r>
            <a:r>
              <a:rPr lang="en-US" dirty="0">
                <a:solidFill>
                  <a:srgbClr val="272525"/>
                </a:solidFill>
                <a:ea typeface="Inter"/>
                <a:cs typeface="Arial" panose="020B0604020202020204" pitchFamily="34" charset="0"/>
              </a:rPr>
              <a:t>.</a:t>
            </a:r>
            <a:endParaRPr lang="en-US" dirty="0">
              <a:ea typeface="Inter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64874" y="2854523"/>
            <a:ext cx="626506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Типизация: Чувствовать себя комфортно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64874" y="342495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Аннотации типов являются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необязательными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и, по сути,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ничего не делают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64874" y="419885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Структура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типов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: 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— это просто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массив символов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(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Char[]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), а 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Int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— это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массив цифр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(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Digit[]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).</a:t>
            </a:r>
            <a:endParaRPr lang="en-US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5712" y="7596069"/>
            <a:ext cx="1905266" cy="5811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650" y="1172885"/>
            <a:ext cx="969990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ru-RU" sz="3900" b="1" dirty="0" smtClean="0">
                <a:solidFill>
                  <a:srgbClr val="000000"/>
                </a:solidFill>
                <a:ea typeface="Inter"/>
                <a:cs typeface="Arial" panose="020B0604020202020204" pitchFamily="34" charset="0"/>
              </a:rPr>
              <a:t>Запуск кода</a:t>
            </a:r>
            <a:endParaRPr lang="en-US" sz="3900" dirty="0">
              <a:ea typeface="Inter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3944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Написать код на DreamBerd — это полдела. Главное —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попытаться его запустить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 И тут начинается самое интересное, ведь DreamBerd не предназначен для реальной работы.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3790" y="3172182"/>
            <a:ext cx="464403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Компиляция? 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91446" y="4065151"/>
            <a:ext cx="12745164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У DreamBerd нет реального компилятора или интерпретатора.</a:t>
            </a:r>
            <a:r>
              <a:rPr lang="en-US" sz="19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Он существует только как документация и </a:t>
            </a:r>
            <a:r>
              <a:rPr lang="en-US" sz="195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набор</a:t>
            </a:r>
            <a:r>
              <a:rPr lang="en-US" sz="19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1950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принципов</a:t>
            </a:r>
            <a:r>
              <a:rPr lang="ru-RU" sz="1950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3841909"/>
            <a:ext cx="22860" cy="1240393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5305544"/>
            <a:ext cx="13042821" cy="1160740"/>
          </a:xfrm>
          <a:prstGeom prst="roundRect">
            <a:avLst>
              <a:gd name="adj" fmla="val 7182"/>
            </a:avLst>
          </a:prstGeom>
          <a:solidFill>
            <a:srgbClr val="C7C9E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608439"/>
            <a:ext cx="248007" cy="1983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8513" y="5553432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В официальной </a:t>
            </a:r>
            <a:r>
              <a:rPr lang="en-US" dirty="0" err="1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документации</a:t>
            </a:r>
            <a:r>
              <a:rPr lang="en-US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предлагается</a:t>
            </a:r>
            <a:r>
              <a:rPr lang="en-US" dirty="0" smtClean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скопировать код в </a:t>
            </a:r>
            <a:r>
              <a:rPr lang="en-US" b="1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ChatGPT</a:t>
            </a:r>
            <a:r>
              <a:rPr lang="en-US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 и спросить, что он выведет.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Та</a:t>
            </a:r>
            <a:r>
              <a:rPr lang="ru-RU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м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же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есть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шутка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про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установщик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установщика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компилятора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,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но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, к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счастью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,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никаких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ru-RU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инструкций</a:t>
            </a:r>
            <a:r>
              <a:rPr lang="en-US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нет</a:t>
            </a:r>
            <a:r>
              <a:rPr lang="ru-RU" dirty="0" smtClean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5712" y="7596069"/>
            <a:ext cx="1905266" cy="5811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856"/>
            <a:ext cx="50643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Будущее DreamBerd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653897" y="3614738"/>
            <a:ext cx="29819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Реальные перспективы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4043958"/>
            <a:ext cx="384202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DreamBerd, скорее всего, навсегда останется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шуточным языком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 Его цель — быть источником юмора и поводом для дискуссий в IT-сообществе.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340769"/>
            <a:ext cx="4564975" cy="45649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3784" y="1640859"/>
            <a:ext cx="32121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Осторожность к трендам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323784" y="2039660"/>
            <a:ext cx="394132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Язык служит напоминанием о том, что не стоит слепо следовать трендам и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усложнять технологии без необходимости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340768"/>
            <a:ext cx="4564975" cy="45649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30714" y="5870257"/>
            <a:ext cx="248447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Ценность простоты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9530714" y="6206848"/>
            <a:ext cx="394132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Он побуждает разработчиков ценить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простоту и логичность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в инструментах, которыми они пользуются. </a:t>
            </a:r>
            <a:endParaRPr lang="en-US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367202"/>
            <a:ext cx="4564975" cy="4564975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5712" y="7596069"/>
            <a:ext cx="1905266" cy="5811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046"/>
            <a:ext cx="1006887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DreamBerd и его </a:t>
            </a:r>
            <a:r>
              <a:rPr lang="en-US" sz="3900" b="1" dirty="0" err="1">
                <a:solidFill>
                  <a:srgbClr val="4950BC"/>
                </a:solidFill>
                <a:ea typeface="Inter Bold" pitchFamily="34" charset="-122"/>
                <a:cs typeface="Inter Bold" pitchFamily="34" charset="-120"/>
              </a:rPr>
              <a:t>Эзотерические</a:t>
            </a:r>
            <a:r>
              <a:rPr lang="en-US" sz="3900" b="1" dirty="0">
                <a:solidFill>
                  <a:srgbClr val="4950BC"/>
                </a:solidFill>
                <a:ea typeface="Inter Bold" pitchFamily="34" charset="-122"/>
                <a:cs typeface="Inter Bold" pitchFamily="34" charset="-120"/>
              </a:rPr>
              <a:t> </a:t>
            </a:r>
            <a:r>
              <a:rPr lang="ru-RU" sz="3900" b="1" dirty="0" smtClean="0">
                <a:solidFill>
                  <a:srgbClr val="4950BC"/>
                </a:solidFill>
                <a:ea typeface="Inter Bold" pitchFamily="34" charset="-122"/>
                <a:cs typeface="Inter Bold" pitchFamily="34" charset="-120"/>
              </a:rPr>
              <a:t>Братья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5595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DreamBerd находится в ряду так называемых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"эзотерических" языков программирования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, созданных не для практики, а в качестве эксперимента, шутки или произведения искусства.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3790" y="30126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ArnoldC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441859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Язык, в котором все команды — это цитаты из фильмов с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Арнольдом Шварценеггером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 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17720"/>
            <a:ext cx="4182189" cy="1938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23986" y="30126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Whitespace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5223986" y="3441859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Язык, в котором код пишется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исключительно с помощью пробелов, табов и переводов строк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 </a:t>
            </a: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4617720"/>
            <a:ext cx="4182308" cy="26727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54302" y="30126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LOLCODE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9654302" y="3441859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Язык, синтаксис которого основан на сленге "лол-котов" (lolcats). </a:t>
            </a:r>
            <a:endParaRPr lang="en-US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4300180"/>
            <a:ext cx="4182308" cy="1855827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5712" y="7596069"/>
            <a:ext cx="1905266" cy="581106"/>
          </a:xfrm>
          <a:prstGeom prst="rect">
            <a:avLst/>
          </a:prstGeom>
        </p:spPr>
      </p:pic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4617720"/>
            <a:ext cx="4182189" cy="19383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69838"/>
            <a:ext cx="449687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ea typeface="Inter"/>
                <a:cs typeface="Inter Bold" pitchFamily="34" charset="-120"/>
              </a:rPr>
              <a:t>Спасибо за внимание!</a:t>
            </a:r>
            <a:endParaRPr lang="en-US" sz="3100" dirty="0">
              <a:ea typeface="Inter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362807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Теперь вы готовы к отладке кода, в котором приоритет операций зависит от количества пробелов. Удачи</a:t>
            </a:r>
            <a:r>
              <a:rPr lang="en-US" sz="1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95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5712" y="7596069"/>
            <a:ext cx="1905266" cy="5811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852</Words>
  <Application>Microsoft Office PowerPoint</Application>
  <PresentationFormat>Произвольный</PresentationFormat>
  <Paragraphs>79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Inter</vt:lpstr>
      <vt:lpstr>Inter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maxkuklavod@gmail.com</cp:lastModifiedBy>
  <cp:revision>8</cp:revision>
  <dcterms:created xsi:type="dcterms:W3CDTF">2025-10-17T11:34:50Z</dcterms:created>
  <dcterms:modified xsi:type="dcterms:W3CDTF">2025-10-17T13:05:14Z</dcterms:modified>
</cp:coreProperties>
</file>